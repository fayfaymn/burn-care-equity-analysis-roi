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219456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SUBMISSION  ·  TEAM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Geography of Survival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Burn Care Deserts · Quantifying the Equity Gap · Deploying a Telemedicine Fix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zip code should not determine your survival from a burn injury."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35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Mission: Identify Burn Deserts and bridge the equity gap through data-driven resource allocation.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82296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03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Hackathon 2026  ·  1st Place Winner  ·  Emmanuel Fle Chea · Josh Spitzer-Resnick · Shreya Pramanik · Feifei Li · Lance Killian McDonald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NIRD 2023 · U.S. Census 2020 · CDC SVI 2022 · USDA RUCC 2023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3657600"/>
            <a:ext cx="1005840" cy="10058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675120" y="42976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live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809744"/>
            <a:ext cx="85953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· BData · HealthcareMN · University of Minnesota  ·  fayfaymn.github.io/Burn-Care-Equity-Analysis-ROI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Burn Deserts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disparity between high injury volume and scarce specialized facilities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874520" cy="1234440"/>
          </a:xfrm>
          <a:prstGeom prst="rect">
            <a:avLst/>
          </a:prstGeom>
          <a:solidFill>
            <a:srgbClr val="F5F7FA"/>
          </a:solidFill>
          <a:ln w="254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874520" cy="548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600,000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" y="1563624"/>
            <a:ext cx="172821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burn injuries requiring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care (Ivanko et al. 2024)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822960"/>
            <a:ext cx="1874520" cy="1234440"/>
          </a:xfrm>
          <a:prstGeom prst="rect">
            <a:avLst/>
          </a:prstGeom>
          <a:solidFill>
            <a:srgbClr val="F5F7FA"/>
          </a:solidFill>
          <a:ln w="25400">
            <a:solidFill>
              <a:srgbClr val="C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31720" y="822960"/>
            <a:ext cx="1874520" cy="5486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91440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04872" y="1563624"/>
            <a:ext cx="172821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states with ZERO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burn centers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822960"/>
            <a:ext cx="1874520" cy="1234440"/>
          </a:xfrm>
          <a:prstGeom prst="rect">
            <a:avLst/>
          </a:prstGeom>
          <a:solidFill>
            <a:srgbClr val="F5F7FA"/>
          </a:solidFill>
          <a:ln w="25400">
            <a:solidFill>
              <a:srgbClr val="C55A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822960"/>
            <a:ext cx="1874520" cy="54864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91440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62272" y="1563624"/>
            <a:ext cx="172821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L1–L3 trauma centers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burn capability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46520" y="822960"/>
            <a:ext cx="1874520" cy="1234440"/>
          </a:xfrm>
          <a:prstGeom prst="rect">
            <a:avLst/>
          </a:prstGeom>
          <a:solidFill>
            <a:srgbClr val="F5F7FA"/>
          </a:solidFill>
          <a:ln w="25400">
            <a:solidFill>
              <a:srgbClr val="0066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822960"/>
            <a:ext cx="1874520" cy="54864"/>
          </a:xfrm>
          <a:prstGeom prst="rect">
            <a:avLst/>
          </a:prstGeom>
          <a:solidFill>
            <a:srgbClr val="006666"/>
          </a:solidFill>
          <a:ln w="12700">
            <a:solidFill>
              <a:srgbClr val="0066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91440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635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519672" y="1563624"/>
            <a:ext cx="172821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in NIRD 2023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analyzed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212848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212848"/>
            <a:ext cx="64008" cy="2651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304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Scarcity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2596896"/>
            <a:ext cx="25603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states — AK, DE, MS, MT, ND, NH, SD — have zero adult burn centers. Patients in these states must travel hundreds of miles across state lines for specialist care. For pediatric burns, the gap is even wider.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212848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212848"/>
            <a:ext cx="64008" cy="265176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304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Silo Effect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2596896"/>
            <a:ext cx="25603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of all Level 1–3 trauma centers operate without specialized burn capabilities (computed from NIRD 2023). These facilities see the most severe injuries but cannot definitively treat burn patients, forcing secondary transfers.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212848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212848"/>
            <a:ext cx="64008" cy="2651760"/>
          </a:xfrm>
          <a:prstGeom prst="rect">
            <a:avLst/>
          </a:prstGeom>
          <a:solidFill>
            <a:srgbClr val="006666"/>
          </a:solidFill>
          <a:ln w="12700">
            <a:solidFill>
              <a:srgbClr val="0066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304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Failure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2596896"/>
            <a:ext cx="25603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isolation creates hidden disparities that state-level averages mask. A state may report an adequate number of hospitals while entire rural counties remain more than 100 population-weighted miles from any burn center.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NIRD 2023 (BData / ABA) · Ivanko et al. J Burn Care Res 2024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The Composite Vulnerability Index (CVI)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integrated national datasets · Population-weighted county-level analysis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CVI  =  Access (35%)  +  Quality (25%)  +  Capacity (25%)  +  Population Scale (15%)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201168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27632"/>
            <a:ext cx="64008" cy="32186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NIRD 2023 (BData / ABA)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635 hospitals across 50 states. Burn center designation, trauma levels (L1–L3), ABA verification status, burn bed counts, and pediatric capability flags.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627632"/>
            <a:ext cx="201168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627632"/>
            <a:ext cx="64008" cy="3218688"/>
          </a:xfrm>
          <a:prstGeom prst="rect">
            <a:avLst/>
          </a:prstGeom>
          <a:solidFill>
            <a:srgbClr val="006666"/>
          </a:solidFill>
          <a:ln w="12700">
            <a:solidFill>
              <a:srgbClr val="00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Census Bureau 2020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87752" y="201168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3,221 county population-weighted centroids. Haversine great-circle distances computed from every county to nearest burn center — any, and ABA-verified separately.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27632"/>
            <a:ext cx="201168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27632"/>
            <a:ext cx="64008" cy="3218688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/ ATSDR SVI 2022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64024" y="201168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County-level Social Vulnerability Index: poverty (EP_POV150), vehicle access (EP_NOVEH), disability (EP_DISABL), minority status (EP_MINRTY), limited English (EP_LIMENG).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1627632"/>
            <a:ext cx="201168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627632"/>
            <a:ext cx="64008" cy="321868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0296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 RUCC 2023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0296" y="201168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Rural-Urban Continuum Codes for 3,235 counties. 9-point scale aggregated to state-level medians: Urban (1–3), Mixed (4–6), Rural (7–9).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Geocoding: 118/136 burn centers auto-geocoded via Census Geocoder API · 18 manually verified · Distance method: Haversine great-circle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Gap: Bivariate Access Analysis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density vs. distance burden across all 50 states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86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234440"/>
            <a:ext cx="388620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6187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Distance Burden States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453896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 · ND · MT · SD · ID · WY · PR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states carry the greatest population-weighted Haversine distance to any burn center (verified from Census 2020 centroids).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1984248"/>
            <a:ext cx="388620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01168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Hawaii Paradox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203704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Hawaii: 0 miles to any burn center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2,385 miles to nearest ABA-verified center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and quality are not the same thing.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734056"/>
            <a:ext cx="388620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7614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Failure Zones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2953512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with HIGH population AND HIGH distance to care are classified as Critical Failure Zones — the highest-urgency intervention targets.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3483864"/>
            <a:ext cx="388620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0066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51129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Gap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3703320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with adult burn centers but ZERO pediatric burn centers represent a separate, independent access failure invisible in standard reporting.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822960"/>
            <a:ext cx="4297680" cy="4023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914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Access Map Logic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325880"/>
            <a:ext cx="914400" cy="713232"/>
          </a:xfrm>
          <a:prstGeom prst="rect">
            <a:avLst/>
          </a:prstGeom>
          <a:solidFill>
            <a:srgbClr val="E8E8E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32588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11430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1325880"/>
            <a:ext cx="914400" cy="713232"/>
          </a:xfrm>
          <a:prstGeom prst="rect">
            <a:avLst/>
          </a:prstGeom>
          <a:solidFill>
            <a:srgbClr val="DFD0D6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11430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1325880"/>
            <a:ext cx="914400" cy="713232"/>
          </a:xfrm>
          <a:prstGeom prst="rect">
            <a:avLst/>
          </a:prstGeom>
          <a:solidFill>
            <a:srgbClr val="BE64A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11430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130552"/>
            <a:ext cx="914400" cy="713232"/>
          </a:xfrm>
          <a:prstGeom prst="rect">
            <a:avLst/>
          </a:prstGeom>
          <a:solidFill>
            <a:srgbClr val="ACE4E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130552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52160" y="2130552"/>
            <a:ext cx="914400" cy="713232"/>
          </a:xfrm>
          <a:prstGeom prst="rect">
            <a:avLst/>
          </a:prstGeom>
          <a:solidFill>
            <a:srgbClr val="A5ADD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0" y="2130552"/>
            <a:ext cx="914400" cy="713232"/>
          </a:xfrm>
          <a:prstGeom prst="rect">
            <a:avLst/>
          </a:prstGeom>
          <a:solidFill>
            <a:srgbClr val="8C62A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2935224"/>
            <a:ext cx="914400" cy="713232"/>
          </a:xfrm>
          <a:prstGeom prst="rect">
            <a:avLst/>
          </a:prstGeom>
          <a:solidFill>
            <a:srgbClr val="5AC8C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935224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52160" y="2935224"/>
            <a:ext cx="914400" cy="713232"/>
          </a:xfrm>
          <a:prstGeom prst="rect">
            <a:avLst/>
          </a:prstGeom>
          <a:solidFill>
            <a:srgbClr val="5698B9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0" y="2935224"/>
            <a:ext cx="914400" cy="713232"/>
          </a:xfrm>
          <a:prstGeom prst="rect">
            <a:avLst/>
          </a:prstGeom>
          <a:solidFill>
            <a:srgbClr val="3B499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65392" y="1325880"/>
            <a:ext cx="201168" cy="20116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1371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3749040"/>
            <a:ext cx="4114800" cy="512064"/>
          </a:xfrm>
          <a:prstGeom prst="rect">
            <a:avLst/>
          </a:prstGeom>
          <a:solidFill>
            <a:srgbClr val="15223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374904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blue/purple = Critical Failure Zone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population + high distance to care = highest urgency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NIRD 2023 · U.S. Census 2020 County Population Centroids · Haversine method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Burden: Population-Weighted Access Across 3,221 Counties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distances tracked: any burn center vs. ABA-verified center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4023360"/>
          </a:xfrm>
          <a:prstGeom prst="rect">
            <a:avLst/>
          </a:prstGeom>
          <a:solidFill>
            <a:srgbClr val="006666"/>
          </a:solidFill>
          <a:ln w="12700">
            <a:solidFill>
              <a:srgbClr val="00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886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23444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3,221 U.S. counties, we computed Haversine great-circle distances from each county's population-weighted centroid (U.S. Census 2020) to the nearest burn center.
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distances are reported:
</a:t>
            </a:r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Distance to any burn center
· Distance to nearest ABA-verified center
</a:t>
            </a:r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Population-weighting ensures results reflect where people actually live — not just geographic landmass. Burn centers were geocoded via Census Geocoder API (118/136 auto-geocoded; 18 manually verified).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822960"/>
            <a:ext cx="4480560" cy="4023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9144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Distance Findings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1298448"/>
            <a:ext cx="4206240" cy="658368"/>
          </a:xfrm>
          <a:prstGeom prst="rect">
            <a:avLst/>
          </a:prstGeom>
          <a:solidFill>
            <a:srgbClr val="162B45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325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burden states (any center)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17720" y="15179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 · ND · MT · SD · ID · WY · PR — greatest pop-weighted distance to any burn center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26280" y="2048256"/>
            <a:ext cx="4206240" cy="658368"/>
          </a:xfrm>
          <a:prstGeom prst="rect">
            <a:avLst/>
          </a:prstGeom>
          <a:solidFill>
            <a:srgbClr val="162B45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0756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Hawaii Paradox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22677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miles to any burn center · 2,385 miles to nearest ABA-verified center — the most striking quality-vs-proximity case in the dataset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26280" y="2798064"/>
            <a:ext cx="4206240" cy="658368"/>
          </a:xfrm>
          <a:prstGeom prst="rect">
            <a:avLst/>
          </a:prstGeom>
          <a:solidFill>
            <a:srgbClr val="162B45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8254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17720" y="3017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proximity ≠ quality care. ABA verification is the only nationally recognized quality standard — and ABA-verified centers are significantly further away in many states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26280" y="3547872"/>
            <a:ext cx="4206240" cy="658368"/>
          </a:xfrm>
          <a:prstGeom prst="rect">
            <a:avLst/>
          </a:prstGeom>
          <a:solidFill>
            <a:srgbClr val="162B4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5753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desert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37673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states with adult burn centers have zero pediatric burn centers — an independent access gap invisible in standard state-level reporting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40880" y="4315968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4334256"/>
            <a:ext cx="475488" cy="47548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571232" y="433425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interactive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maps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NIRD 2023 · U.S. Census Bureau 2020 County Population Centroids · Haversine method · ABA National Burn Repository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Inequity by Design: Social Vulnerability Follows the Access Gap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SVI 2022 integrated with NIRD 2023 state-level burn access metrics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54864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86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SVI Integration Reveals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with the lowest burn center density consistently also have: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627632"/>
            <a:ext cx="310896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276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1645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poverty rates (EP_POV150)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21408"/>
            <a:ext cx="310896" cy="36576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2140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" y="21396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households with no vehicle (EP_NOVEH)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615184"/>
            <a:ext cx="310896" cy="3657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15184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2633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disability populations (EP_DISABL)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108960"/>
            <a:ext cx="310896" cy="365760"/>
          </a:xfrm>
          <a:prstGeom prst="rect">
            <a:avLst/>
          </a:prstGeom>
          <a:solidFill>
            <a:srgbClr val="006666"/>
          </a:solidFill>
          <a:ln w="12700">
            <a:solidFill>
              <a:srgbClr val="0066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08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" y="3127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minority representation (EP_MINRTY)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602736"/>
            <a:ext cx="310896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02736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4672" y="36210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limited-English households (EP_LIMENG)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822960"/>
            <a:ext cx="4297680" cy="1737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coincidence.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09160" y="132588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reflects decades of healthcare infrastructure investment concentrated in urban, economically advantaged areas — leaving the communities least equipped to compensate with the worst burn care access.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724912"/>
            <a:ext cx="429768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2724912"/>
            <a:ext cx="64008" cy="21214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7889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Barrier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3127248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burn care system implicitly assumes patients can travel. The data proves many cannot: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Families with no vehicle (EP_NOVEH) are the same ones living in burn deserts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Poverty-burdened counties are disproportionately far from ABA-verified centers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Disability and limited-English populations face compounding barriers beyond just distance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CDC/ATSDR SVI 2022 · NIRD 2023 · Figure 8: Burn Access vs. Socioeconomic Vulnerability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Referral Bottleneck: 88% of Trauma Centers Cannot Handle Burns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from NIRD 2023 · Literature: Huang et al. 2021, Murray et al. 2019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566928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~600,000  —  Total Annual Burn Injuries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1408176"/>
            <a:ext cx="0" cy="9144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99616"/>
            <a:ext cx="4389120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9961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~90,000  —  Require Specialist Burn Care (est. 15%)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2066544"/>
            <a:ext cx="0" cy="9144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2157984"/>
            <a:ext cx="2926080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21579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~30,600  —  Successfully Referred (est. 34%)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2724912"/>
            <a:ext cx="0" cy="9144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2816352"/>
            <a:ext cx="2926080" cy="5669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8163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~59,400  —  SYSTEM LEAKAGE — Never Reach a Burn Center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34564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values are modeled projections applying Huang et al. (2021) 66% under-referral rate to Ivanko et al. (2024) national injury volume.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0" y="82296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822960"/>
            <a:ext cx="2651760" cy="5486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886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12618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355080" y="17190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L1–L3 trauma centers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burn capability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(NIRD 2023)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55080" y="22860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355080" y="27432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Under-referral rate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(Huang et al. 2021,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Illinois statewide)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5080" y="33101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355080" y="376732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hospital days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under-referred patient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(Murray et al. 2019)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NIRD 2023 · Huang et al. 2021 · Murray et al. 2019 · Ivanko et al. 2024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1: The Tele-Burn Hub Network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move the patient — move the expertise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Score  =  +3 pts (trauma without burn)  +  +2 pts (Level 1)  +  +1.5 pts (Level 2)  +  +0.5–1 pt (bed size quartile)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27632"/>
            <a:ext cx="274320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276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non-burn trauma center in the NIRD is scored on its trauma level, bed size, and absence of burn capability.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High-scoring sites (score ≥ 5) are the strongest candidates to activate as telemedicine spokes — connecting to ABA-verified burn centers as knowledge hubs.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delivers specialist expertise to burn deserts without new physical infrastructure.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82112" y="162763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627632"/>
            <a:ext cx="2743200" cy="384048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6276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Priority States (Score ≥ 5)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73552" y="205740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— highest candidate volume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— highest trauma center gap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Illinois — third highest candidate count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states represent the greatest immediate opportunity. At the hospital level, Level 1 trauma centers without burn capability rank highest — they see the most severe injuries with the least burn expertise.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9904" y="162763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627632"/>
            <a:ext cx="274320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6276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 Case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81344" y="205740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avoidable delayed referral costs: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6.9 excess hospital days (Murray et al. 2019)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$3,500/day ABA benchmark cost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= $24,150 per patient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avoidable cost projections are computed at runtime from NIRD + Census data. Note: Infection cost estimates were removed from the model (no peer-reviewed citation available).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663440"/>
            <a:ext cx="685800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66344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Dashboard: fayfaymn.github.io/Burn-Care-Equity-Analysis-ROI  ·  Tele-Burn Hub Network · Burn Desert Zones · ABA-Verified Centers</a:t>
            </a:r>
            <a:endParaRPr lang="en-US" sz="9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00"/>
            <a:ext cx="566928" cy="56692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882128" y="4663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explore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2: Quantifying the Avoidable Cost Burden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from Huang et al. 2021 · Murray et al. 2019 · ABA cost benchmarks — state-level runtime projections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66% under-referral rate (Huang 2021)  ×  6.9 excess LOS days (Murray 2019)  ×  $3,500/day (ABA benchmark)  ·  90% penalty for zero-center states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1920240" cy="1234440"/>
          </a:xfrm>
          <a:prstGeom prst="rect">
            <a:avLst/>
          </a:prstGeom>
          <a:solidFill>
            <a:srgbClr val="F5F7FA"/>
          </a:solidFill>
          <a:ln w="25400">
            <a:solidFill>
              <a:srgbClr val="C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36192"/>
            <a:ext cx="1920240" cy="5486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2763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" y="2276856"/>
            <a:ext cx="17739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Under-referral rate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(Huang et al. 2021)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77440" y="1536192"/>
            <a:ext cx="1920240" cy="1234440"/>
          </a:xfrm>
          <a:prstGeom prst="rect">
            <a:avLst/>
          </a:prstGeom>
          <a:solidFill>
            <a:srgbClr val="F5F7FA"/>
          </a:solidFill>
          <a:ln w="25400">
            <a:solidFill>
              <a:srgbClr val="C55A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0" y="1536192"/>
            <a:ext cx="1920240" cy="54864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62763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 days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450592" y="2276856"/>
            <a:ext cx="17739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LOS per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under-referred patient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(Murray et al. 2019)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80560" y="1536192"/>
            <a:ext cx="1920240" cy="1234440"/>
          </a:xfrm>
          <a:prstGeom prst="rect">
            <a:avLst/>
          </a:prstGeom>
          <a:solidFill>
            <a:srgbClr val="F5F7FA"/>
          </a:solidFill>
          <a:ln w="25400">
            <a:solidFill>
              <a:srgbClr val="0066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1536192"/>
            <a:ext cx="1920240" cy="54864"/>
          </a:xfrm>
          <a:prstGeom prst="rect">
            <a:avLst/>
          </a:prstGeom>
          <a:solidFill>
            <a:srgbClr val="006666"/>
          </a:solidFill>
          <a:ln w="12700">
            <a:solidFill>
              <a:srgbClr val="0066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62763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$3,500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53712" y="2276856"/>
            <a:ext cx="17739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excess hospital day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(ABA cost benchmark)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0" y="1536192"/>
            <a:ext cx="1920240" cy="1234440"/>
          </a:xfrm>
          <a:prstGeom prst="rect">
            <a:avLst/>
          </a:prstGeom>
          <a:solidFill>
            <a:srgbClr val="F5F7FA"/>
          </a:solidFill>
          <a:ln w="25400">
            <a:solidFill>
              <a:srgbClr val="375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1536192"/>
            <a:ext cx="1920240" cy="5486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62763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$24,150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656832" y="2276856"/>
            <a:ext cx="17739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cost per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under-referred patient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(6.9 × $3,500)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54864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07792"/>
            <a:ext cx="64008" cy="19385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9718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Computes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3310128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state, the model estimates: annual burn injuries (202 per 100k residents) → cases needing specialist care (15%) → under-referred patients (66%, or 90% for zero-center states) → excess hospital days → avoidable cost in $M.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totals are computed at runtime from the NIRD + Census dataset — national aggregate is the sum of all states.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2907792"/>
            <a:ext cx="2926080" cy="1938528"/>
          </a:xfrm>
          <a:prstGeom prst="rect">
            <a:avLst/>
          </a:prstGeom>
          <a:solidFill>
            <a:srgbClr val="FFF8F0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907792"/>
            <a:ext cx="2926080" cy="54864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971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Integrity Note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3310128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infection cost multiplier previously cited in this analysis was removed from the model because no peer-reviewed citation was available for the specific rate applied.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shown here are based only on excess LOS × daily cost — no infection penalty is included.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Huang et al. 2021 · Murray et al. 2019 · Ivanko et al. 2024 · ABA cost benchmarks · NIRD 2023 + U.S. Census 2020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Access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policy actions — grounded in verified data, executable today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32104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Analysis: Top-10 most vulnerable states remain in the top 15 across ALL 5 weighting scenarios (access-heavy, quality-heavy, capacity-heavy, equal, base). The ranking is a structural finding — not a modeling artifact.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977640" cy="1463040"/>
          </a:xfrm>
          <a:prstGeom prst="rect">
            <a:avLst/>
          </a:prstGeom>
          <a:solidFill>
            <a:srgbClr val="152238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457200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1828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the Tele-Burn Hub Network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2176272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telemedicine at high-scoring (≥5) trauma centers — starting with California, Texas, and Illinois. Connect to ABA-verified hubs. No new buildings. Immediate expert reach extension.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3977640" cy="1463040"/>
          </a:xfrm>
          <a:prstGeom prst="rect">
            <a:avLst/>
          </a:prstGeom>
          <a:solidFill>
            <a:srgbClr val="152238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737360"/>
            <a:ext cx="457200" cy="146304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73736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48072" y="1828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ABA Verification Nationally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48072" y="2176272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alone is insufficient. Federal and state incentives must support ABA verification of existing centers, particularly in Danger Zone states. Verification = quality assurance.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310128"/>
            <a:ext cx="3977640" cy="1463040"/>
          </a:xfrm>
          <a:prstGeom prst="rect">
            <a:avLst/>
          </a:prstGeom>
          <a:solidFill>
            <a:srgbClr val="15223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10128"/>
            <a:ext cx="457200" cy="14630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10128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7552" y="34015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Dedicated Pediatric Policy Track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7552" y="37490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and pediatric burn access must be tracked and funded separately. States adequate on adult metrics may have zero pediatric coverage — current policy frameworks do not capture this.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3310128"/>
            <a:ext cx="3977640" cy="1463040"/>
          </a:xfrm>
          <a:prstGeom prst="rect">
            <a:avLst/>
          </a:prstGeom>
          <a:solidFill>
            <a:srgbClr val="152238"/>
          </a:solidFill>
          <a:ln w="19050">
            <a:solidFill>
              <a:srgbClr val="0066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3310128"/>
            <a:ext cx="457200" cy="1463040"/>
          </a:xfrm>
          <a:prstGeom prst="rect">
            <a:avLst/>
          </a:prstGeom>
          <a:solidFill>
            <a:srgbClr val="006666"/>
          </a:solidFill>
          <a:ln w="12700">
            <a:solidFill>
              <a:srgbClr val="0066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310128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48072" y="34015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to County-Level Resource Allocation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48072" y="37490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averages hide county deserts. All resource decisions — new centers, telemedicine, transport — must use population-weighted county distance data, not state-level counts.</a:t>
            </a:r>
            <a:endParaRPr lang="en-US" sz="9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17720"/>
            <a:ext cx="502920" cy="5029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97280" y="466344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has identified the gap. Technology must now bridge it.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406640" y="46817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fayfaymn.github.io/Burn-Care-Equity-Analysis-ROI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4809744"/>
            <a:ext cx="85953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1st Place · HeatMap Hackathon 2026 · Team 13 · ABA–BData · HealthcareMN · University of Minnesota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Geography of Survival – Team 13 (Corrected)</dc:title>
  <dc:subject>PptxGenJS Presentation</dc:subject>
  <dc:creator>PptxGenJS</dc:creator>
  <cp:lastModifiedBy>PptxGenJS</cp:lastModifiedBy>
  <cp:revision>1</cp:revision>
  <dcterms:created xsi:type="dcterms:W3CDTF">2026-04-13T01:04:09Z</dcterms:created>
  <dcterms:modified xsi:type="dcterms:W3CDTF">2026-04-13T01:04:09Z</dcterms:modified>
</cp:coreProperties>
</file>