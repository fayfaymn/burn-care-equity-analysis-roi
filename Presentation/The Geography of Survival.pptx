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8" r:id="rId4"/>
    <p:sldId id="267" r:id="rId6"/>
    <p:sldId id="260" r:id="rId7"/>
    <p:sldId id="268" r:id="rId8"/>
    <p:sldId id="271" r:id="rId9"/>
    <p:sldId id="273" r:id="rId10"/>
    <p:sldId id="274" r:id="rId11"/>
    <p:sldId id="275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8" autoAdjust="0"/>
    <p:restoredTop sz="94660"/>
  </p:normalViewPr>
  <p:slideViewPr>
    <p:cSldViewPr snapToGrid="0">
      <p:cViewPr>
        <p:scale>
          <a:sx n="80" d="100"/>
          <a:sy n="80" d="100"/>
        </p:scale>
        <p:origin x="336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D9669-D8A4-434B-9041-7D59E9DE747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AB466-E2FA-4D7E-BE8D-CACF107702F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AB466-E2FA-4D7E-BE8D-CACF107702F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SVI vs. Distance (Positive Correlation):</a:t>
            </a:r>
            <a:r>
              <a:rPr lang="en-US" dirty="0"/>
              <a:t> States with higher social vulnerability (specifically higher poverty and lower vehicle ownership) tend to have significantly higher distances to burn centers. This confirms that </a:t>
            </a:r>
            <a:r>
              <a:rPr lang="en-US" b="1" dirty="0"/>
              <a:t>transportation-poor populations are also the most geographically isolated.</a:t>
            </a:r>
            <a:endParaRPr lang="en-US" dirty="0"/>
          </a:p>
          <a:p>
            <a:r>
              <a:rPr lang="en-US" b="1" dirty="0"/>
              <a:t>Distance vs. Bed Capacity (Negative Correlation):</a:t>
            </a:r>
            <a:r>
              <a:rPr lang="en-US" dirty="0"/>
              <a:t> Areas with the greatest distances often have the lowest bed densities. This means if a patient finally travels 150 miles, they are arriving at a center that is more likely to be at full capacity.</a:t>
            </a:r>
            <a:endParaRPr lang="en-US" dirty="0"/>
          </a:p>
          <a:p>
            <a:r>
              <a:rPr lang="en-US" b="1" dirty="0"/>
              <a:t>SVI vs. Bed Capacity (Negative Correlation):</a:t>
            </a:r>
            <a:r>
              <a:rPr lang="en-US" dirty="0"/>
              <a:t> Socially vulnerable states (like the 7 "Zero-Center" states identified in your PPT) have the lowest normalized bed counts.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AB466-E2FA-4D7E-BE8D-CACF107702F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AB466-E2FA-4D7E-BE8D-CACF107702F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600k injuries flowing into only ~20k successful referrals from the interactive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AB466-E2FA-4D7E-BE8D-CACF107702F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Identified the </a:t>
            </a:r>
            <a:r>
              <a:rPr lang="en-US" b="1" dirty="0"/>
              <a:t>Level I Trauma Centers</a:t>
            </a:r>
            <a:r>
              <a:rPr lang="en-US" dirty="0"/>
              <a:t> that do </a:t>
            </a:r>
            <a:r>
              <a:rPr lang="en-US" i="1" dirty="0"/>
              <a:t>not</a:t>
            </a:r>
            <a:r>
              <a:rPr lang="en-US" dirty="0"/>
              <a:t> currently have burn units.  These are the bridge between the current desert and future 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AB466-E2FA-4D7E-BE8D-CACF107702F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identified the </a:t>
            </a:r>
            <a:r>
              <a:rPr lang="en-US" b="1" dirty="0"/>
              <a:t>Level I Trauma Centers</a:t>
            </a:r>
            <a:r>
              <a:rPr lang="en-US" dirty="0"/>
              <a:t> that do </a:t>
            </a:r>
            <a:r>
              <a:rPr lang="en-US" i="1" dirty="0"/>
              <a:t>not</a:t>
            </a:r>
            <a:r>
              <a:rPr lang="en-US" dirty="0"/>
              <a:t> currently have burn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AB466-E2FA-4D7E-BE8D-CACF107702F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shows that no matter how you look at the data, the same 10 states need help. It makes your recommendation "undeniable."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AB466-E2FA-4D7E-BE8D-CACF107702F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EE647-938F-4D95-A860-CCF375C64F6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53329-4B63-47CB-BC94-1289A86E671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hyperlink" Target="https://mcdonaldlk.github.io/HeatmapHackathon/Figure_2i_map.html" TargetMode="External"/><Relationship Id="rId2" Type="http://schemas.openxmlformats.org/officeDocument/2006/relationships/image" Target="../media/image1.png"/><Relationship Id="rId1" Type="http://schemas.openxmlformats.org/officeDocument/2006/relationships/hyperlink" Target="https://mcdonaldlk.github.io/HeatmapHackathon/Figure_1i.htm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hyperlink" Target="https://mcdonaldlk.github.io/HeatmapHackathon/Figure_8i_Social_Vulnerability.html" TargetMode="Externa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jpe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.xml"/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hyperlink" Target="https://mcdonaldlk.github.io/HeatmapHackathon/Figure_13i_Impact_Projection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7135" y="206375"/>
            <a:ext cx="9432925" cy="1143635"/>
          </a:xfrm>
        </p:spPr>
        <p:txBody>
          <a:bodyPr>
            <a:normAutofit fontScale="90000"/>
          </a:bodyPr>
          <a:lstStyle/>
          <a:p>
            <a:pPr algn="l"/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The Geography of Survival</a:t>
            </a:r>
            <a:endParaRPr lang="en-US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30040" y="1945005"/>
            <a:ext cx="4156710" cy="4109720"/>
          </a:xfrm>
        </p:spPr>
        <p:txBody>
          <a:bodyPr>
            <a:normAutofit fontScale="85000"/>
          </a:bodyPr>
          <a:lstStyle/>
          <a:p>
            <a:r>
              <a:rPr lang="en-US" altLang="en-US" b="1" dirty="0"/>
              <a:t>The Reality: </a:t>
            </a:r>
            <a:r>
              <a:rPr lang="en-US" altLang="en-US" dirty="0"/>
              <a:t>Access to specialized care is a "</a:t>
            </a:r>
            <a:r>
              <a:rPr lang="en-US" altLang="en-US" b="1" dirty="0"/>
              <a:t>Zip Code </a:t>
            </a:r>
            <a:r>
              <a:rPr lang="en-US" altLang="en-US" b="1" dirty="0">
                <a:sym typeface="+mn-ea"/>
              </a:rPr>
              <a:t>Lottery."</a:t>
            </a:r>
            <a:endParaRPr lang="en-US" altLang="en-US" dirty="0"/>
          </a:p>
          <a:p>
            <a:endParaRPr lang="en-US" altLang="en-US" b="1" dirty="0"/>
          </a:p>
          <a:p>
            <a:r>
              <a:rPr lang="en-US" altLang="en-US" b="1" dirty="0"/>
              <a:t>The Mission:</a:t>
            </a:r>
            <a:r>
              <a:rPr lang="en-US" altLang="en-US" dirty="0"/>
              <a:t> Identify </a:t>
            </a:r>
            <a:r>
              <a:rPr lang="en-US" altLang="en-US" b="1" dirty="0"/>
              <a:t>"Burn Deserts"</a:t>
            </a:r>
            <a:r>
              <a:rPr lang="en-US" altLang="en-US" dirty="0"/>
              <a:t> and </a:t>
            </a:r>
            <a:r>
              <a:rPr lang="en-US" altLang="en-US" b="1" dirty="0"/>
              <a:t>bridge the equity gap</a:t>
            </a:r>
            <a:r>
              <a:rPr lang="en-US" altLang="en-US" dirty="0"/>
              <a:t> through data-driven resource allocation.</a:t>
            </a:r>
            <a:endParaRPr lang="en-US" altLang="en-US" dirty="0"/>
          </a:p>
          <a:p>
            <a:pPr algn="l"/>
            <a:endParaRPr lang="en-US" altLang="en-US" dirty="0"/>
          </a:p>
          <a:p>
            <a:r>
              <a:rPr lang="en-US" b="1" dirty="0"/>
              <a:t>   Team 13 </a:t>
            </a:r>
            <a:endParaRPr lang="en-US" b="1" dirty="0"/>
          </a:p>
          <a:p>
            <a:r>
              <a:rPr lang="en-US" dirty="0"/>
              <a:t>Check out more details Please scan </a:t>
            </a:r>
            <a:r>
              <a:rPr lang="en-US" dirty="0" err="1"/>
              <a:t>QRcode</a:t>
            </a:r>
            <a:r>
              <a:rPr lang="en-US" dirty="0"/>
              <a:t> </a:t>
            </a:r>
            <a:endParaRPr lang="en-US" dirty="0"/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4" name="Picture 3" descr="newplot (8)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85" y="2217420"/>
            <a:ext cx="2936875" cy="19704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60905" y="1350010"/>
            <a:ext cx="8479155" cy="699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>
                <a:solidFill>
                  <a:srgbClr val="FF0000"/>
                </a:solidFill>
                <a:sym typeface="+mn-ea"/>
              </a:rPr>
              <a:t>Your zip code shouldn't be your death warrant, but for burn victims, it is.</a:t>
            </a:r>
            <a:endParaRPr lang="en-US"/>
          </a:p>
        </p:txBody>
      </p:sp>
      <p:pic>
        <p:nvPicPr>
          <p:cNvPr id="11" name="Picture 10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538" y="3535468"/>
            <a:ext cx="3208642" cy="2230489"/>
          </a:xfrm>
          <a:prstGeom prst="rect">
            <a:avLst/>
          </a:prstGeom>
        </p:spPr>
      </p:pic>
      <p:pic>
        <p:nvPicPr>
          <p:cNvPr id="261" name="Google Shape;261;p10" title="heatmap_burn_2026_repo_qr.png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969135" y="4533900"/>
            <a:ext cx="1445260" cy="141097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Box 6"/>
          <p:cNvSpPr txBox="1"/>
          <p:nvPr/>
        </p:nvSpPr>
        <p:spPr>
          <a:xfrm>
            <a:off x="4798695" y="263906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 b="1">
                <a:solidFill>
                  <a:srgbClr val="FF0000"/>
                </a:solidFill>
              </a:rPr>
              <a:t>Rural burn mortality is 2.3x higher than urban</a:t>
            </a:r>
            <a:endParaRPr lang="en-US" altLang="en-US" sz="1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Slide Background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42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Problem: Burn Deserts</a:t>
            </a:r>
            <a:endParaRPr lang="en-US" alt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" name="Content Placeholder 19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36122" y="2036564"/>
            <a:ext cx="7504710" cy="3602259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8434136" y="2057512"/>
            <a:ext cx="3021742" cy="39026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/>
              <a:t>Critical Scarcity:</a:t>
            </a:r>
            <a:r>
              <a:rPr lang="en-US" altLang="en-US" sz="2000" dirty="0"/>
              <a:t> 7 U.S. states have zero adult burn centers (AK, DE, MS, MT, ND, NH, SD).</a:t>
            </a:r>
            <a:endParaRPr lang="en-US" alt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err="1"/>
              <a:t>The"Silo</a:t>
            </a:r>
            <a:r>
              <a:rPr lang="en-US" altLang="en-US" sz="2000" b="1" dirty="0"/>
              <a:t>" Effect:</a:t>
            </a:r>
            <a:r>
              <a:rPr lang="en-US" altLang="en-US" sz="2000" dirty="0"/>
              <a:t> 88% of trauma centers operate without specialized burn capabilities.</a:t>
            </a:r>
            <a:endParaRPr lang="en-US" alt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/>
              <a:t>Systemic Failure:</a:t>
            </a:r>
            <a:r>
              <a:rPr lang="en-US" altLang="en-US" sz="2000" dirty="0"/>
              <a:t> Geographic isolation creates "hidden" disparities that traditional healthcare metrics overlook.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>
            <a:normAutofit/>
          </a:bodyPr>
          <a:lstStyle/>
          <a:p>
            <a:r>
              <a:rPr lang="en-US" altLang="en-US" sz="3400"/>
              <a:t>Methodology: The CVI</a:t>
            </a:r>
            <a:endParaRPr lang="en-US" altLang="en-US" sz="3400"/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700" b="1"/>
              <a:t>Clinical Vulnerability Index (SVI + Distance + Capacity)</a:t>
            </a:r>
            <a:endParaRPr lang="en-US" altLang="en-US" sz="1700" b="1"/>
          </a:p>
          <a:p>
            <a:endParaRPr lang="en-US" altLang="en-US" sz="1700"/>
          </a:p>
          <a:p>
            <a:pPr marL="457200" lvl="1" indent="0">
              <a:buNone/>
            </a:pPr>
            <a:r>
              <a:rPr lang="en-US" altLang="en-US" sz="1700" b="1"/>
              <a:t>Beyond Distance: </a:t>
            </a:r>
            <a:r>
              <a:rPr lang="en-US" altLang="en-US" sz="1700"/>
              <a:t>We don't just measure miles; we measure vulnerability.</a:t>
            </a:r>
            <a:endParaRPr lang="en-US" altLang="en-US" sz="1700"/>
          </a:p>
          <a:p>
            <a:pPr marL="457200" lvl="1" indent="0">
              <a:buNone/>
            </a:pPr>
            <a:endParaRPr lang="en-US" altLang="en-US" sz="1700"/>
          </a:p>
          <a:p>
            <a:pPr marL="457200" lvl="1" indent="0">
              <a:buNone/>
            </a:pPr>
            <a:r>
              <a:rPr lang="en-US" altLang="en-US" sz="1700" b="1"/>
              <a:t>The Formula: </a:t>
            </a:r>
            <a:r>
              <a:rPr lang="en-US" altLang="en-US" sz="1700"/>
              <a:t>CVI = [SVI (Social Vulnerability)] + [Distance to Care] + [Bed Capacity].</a:t>
            </a:r>
            <a:endParaRPr lang="en-US" altLang="en-US" sz="1700"/>
          </a:p>
          <a:p>
            <a:pPr marL="457200" lvl="1" indent="0">
              <a:buNone/>
            </a:pPr>
            <a:endParaRPr lang="en-US" altLang="en-US" sz="1700"/>
          </a:p>
          <a:p>
            <a:pPr marL="457200" lvl="1" indent="0">
              <a:buNone/>
            </a:pPr>
            <a:r>
              <a:rPr lang="en-US" altLang="en-US" sz="1700" b="1"/>
              <a:t>Data Integrity: </a:t>
            </a:r>
            <a:r>
              <a:rPr lang="en-US" altLang="en-US" sz="1700"/>
              <a:t>Integrated NIRD 2023 hospital data with Census 2020 population centroids and CDC SVI scores.</a:t>
            </a:r>
            <a:endParaRPr lang="en-US" altLang="en-US" sz="17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3876" y="517600"/>
            <a:ext cx="4942703" cy="2743200"/>
          </a:xfrm>
          <a:prstGeom prst="rect">
            <a:avLst/>
          </a:prstGeom>
        </p:spPr>
      </p:pic>
      <p:pic>
        <p:nvPicPr>
          <p:cNvPr id="10" name="Picture 9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368" y="3638643"/>
            <a:ext cx="5135719" cy="23239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Mapping the Gap</a:t>
            </a:r>
            <a:endParaRPr lang="en-US" altLang="en-US" dirty="0"/>
          </a:p>
        </p:txBody>
      </p:sp>
      <p:sp>
        <p:nvSpPr>
          <p:cNvPr id="6" name="Text Box 5"/>
          <p:cNvSpPr txBox="1"/>
          <p:nvPr/>
        </p:nvSpPr>
        <p:spPr>
          <a:xfrm>
            <a:off x="7577666" y="2351405"/>
            <a:ext cx="4064000" cy="3825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 dirty="0"/>
              <a:t>The "Failure Zone":</a:t>
            </a:r>
            <a:r>
              <a:rPr lang="en-US" altLang="en-US" dirty="0"/>
              <a:t> High-population areas located far from care centers (The "Dark Blue" states).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b="1" dirty="0"/>
              <a:t>The Trend:</a:t>
            </a:r>
            <a:r>
              <a:rPr lang="en-US" altLang="en-US" dirty="0"/>
              <a:t> Access is concentrated in urban hubs, leaving rural and minority-heavy populations stranded.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b="1" dirty="0"/>
              <a:t>Finding:</a:t>
            </a:r>
            <a:r>
              <a:rPr lang="en-US" altLang="en-US" dirty="0"/>
              <a:t> 15 states show a population-weighted distance burden exceeding 100 miles.</a:t>
            </a:r>
            <a:endParaRPr lang="en-US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720" y="1555751"/>
            <a:ext cx="6566479" cy="46215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Slide Background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2" y="762001"/>
            <a:ext cx="4080362" cy="17082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100-Mile Burden</a:t>
            </a:r>
            <a:endParaRPr lang="en-US" alt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1803" y="2470244"/>
            <a:ext cx="4080361" cy="376983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1700" b="1"/>
              <a:t>The Golden Hour: </a:t>
            </a:r>
            <a:r>
              <a:rPr lang="en-US" altLang="en-US" sz="1700"/>
              <a:t>Burn care is time-sensitive; a 100-mile trip is a clinical risk, not just an inconvenience.</a:t>
            </a:r>
            <a:endParaRPr lang="en-US" altLang="en-US" sz="1700"/>
          </a:p>
          <a:p>
            <a:endParaRPr lang="en-US" altLang="en-US" sz="1700"/>
          </a:p>
          <a:p>
            <a:r>
              <a:rPr lang="en-US" altLang="en-US" sz="1700" b="1"/>
              <a:t>Pediatric Crisis: </a:t>
            </a:r>
            <a:r>
              <a:rPr lang="en-US" altLang="en-US" sz="1700"/>
              <a:t>Pediatric care gaps are even wider than adult gaps in 22 states.</a:t>
            </a:r>
            <a:endParaRPr lang="en-US" altLang="en-US" sz="1700"/>
          </a:p>
          <a:p>
            <a:endParaRPr lang="en-US" altLang="en-US" sz="1700"/>
          </a:p>
          <a:p>
            <a:r>
              <a:rPr lang="en-US" altLang="en-US" sz="1700" b="1"/>
              <a:t>Quality vs. Proximity: </a:t>
            </a:r>
            <a:r>
              <a:rPr lang="en-US" altLang="en-US" sz="1700"/>
              <a:t>Having "any" center isn't enough; ABA-verified quality centers are even further away.</a:t>
            </a:r>
            <a:endParaRPr lang="en-US" altLang="en-US" sz="1700"/>
          </a:p>
        </p:txBody>
      </p:sp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oogle Shape;91;p3"/>
          <p:cNvPicPr preferRelativeResize="0">
            <a:picLocks noGrp="1"/>
          </p:cNvPicPr>
          <p:nvPr>
            <p:ph sz="half" idx="2"/>
          </p:nvPr>
        </p:nvPicPr>
        <p:blipFill rotWithShape="1">
          <a:blip r:embed="rId1"/>
          <a:stretch>
            <a:fillRect/>
          </a:stretch>
        </p:blipFill>
        <p:spPr>
          <a:xfrm>
            <a:off x="5603967" y="2395499"/>
            <a:ext cx="5334197" cy="2067001"/>
          </a:xfrm>
          <a:prstGeom prst="rect">
            <a:avLst/>
          </a:prstGeom>
          <a:noFill/>
        </p:spPr>
      </p:pic>
      <p:sp>
        <p:nvSpPr>
          <p:cNvPr id="4" name="Text Box 3"/>
          <p:cNvSpPr txBox="1"/>
          <p:nvPr/>
        </p:nvSpPr>
        <p:spPr>
          <a:xfrm>
            <a:off x="5603875" y="6021705"/>
            <a:ext cx="52000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200"/>
              <a:t>Source: NIRD 2023, ABA National Burn Repository</a:t>
            </a:r>
            <a:endParaRPr lang="en-US" alt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400"/>
              <a:t>Inequity by Design</a:t>
            </a:r>
            <a:endParaRPr lang="en-US" altLang="en-US" sz="3400"/>
          </a:p>
        </p:txBody>
      </p:sp>
      <p:sp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8912" y="2512611"/>
            <a:ext cx="4832803" cy="366435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en-US" sz="1800" b="1"/>
              <a:t>Correlation:</a:t>
            </a:r>
            <a:r>
              <a:rPr lang="en-US" altLang="en-US" sz="1800"/>
              <a:t> High SVI (poverty, lack of transport) directly correlates with the longest travel times.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 b="1"/>
              <a:t>Compounding Factors:</a:t>
            </a:r>
            <a:r>
              <a:rPr lang="en-US" altLang="en-US" sz="1800"/>
              <a:t> Families with "no vehicle" (SVI variable) are the same ones living in burn deserts.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 b="1"/>
              <a:t>Structural Barrier: </a:t>
            </a:r>
            <a:r>
              <a:rPr lang="en-US" altLang="en-US" sz="1800"/>
              <a:t>The system assumes patients can travel; the data proves they cannot.</a:t>
            </a:r>
            <a:endParaRPr lang="en-US" altLang="en-US" sz="180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4227" y="518338"/>
            <a:ext cx="3682148" cy="2743200"/>
          </a:xfrm>
          <a:prstGeom prst="rect">
            <a:avLst/>
          </a:prstGeom>
        </p:spPr>
      </p:pic>
      <p:pic>
        <p:nvPicPr>
          <p:cNvPr id="5" name="Google Shape;110;p4"/>
          <p:cNvPicPr preferRelativeResize="0">
            <a:picLocks noGrp="1"/>
          </p:cNvPicPr>
          <p:nvPr>
            <p:ph sz="half" idx="2"/>
          </p:nvPr>
        </p:nvPicPr>
        <p:blipFill rotWithShape="1">
          <a:blip r:embed="rId2"/>
          <a:stretch>
            <a:fillRect/>
          </a:stretch>
        </p:blipFill>
        <p:spPr>
          <a:xfrm>
            <a:off x="6617368" y="3779876"/>
            <a:ext cx="5135719" cy="2041448"/>
          </a:xfrm>
          <a:prstGeom prst="rect">
            <a:avLst/>
          </a:prstGeom>
          <a:noFill/>
        </p:spPr>
      </p:pic>
      <p:sp>
        <p:nvSpPr>
          <p:cNvPr id="4" name="Text Box 3"/>
          <p:cNvSpPr txBox="1"/>
          <p:nvPr/>
        </p:nvSpPr>
        <p:spPr>
          <a:xfrm>
            <a:off x="6838950" y="3402330"/>
            <a:ext cx="452056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900"/>
              <a:t>Figure 8: Higher SVI correlates with longer travel times and fewer verified burn beds</a:t>
            </a:r>
            <a:endParaRPr lang="en-US" altLang="en-US" sz="900"/>
          </a:p>
        </p:txBody>
      </p:sp>
      <p:sp>
        <p:nvSpPr>
          <p:cNvPr id="6" name="Text Box 5"/>
          <p:cNvSpPr txBox="1"/>
          <p:nvPr/>
        </p:nvSpPr>
        <p:spPr>
          <a:xfrm>
            <a:off x="6231255" y="6048375"/>
            <a:ext cx="56318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000"/>
              <a:t>Figure 16: Minority and rural populations bear disproportionately longer travel distances.</a:t>
            </a:r>
            <a:endParaRPr lang="en-US" alt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Referral Bottleneck</a:t>
            </a:r>
            <a:endParaRPr lang="en-US" altLang="en-US" dirty="0"/>
          </a:p>
        </p:txBody>
      </p:sp>
      <p:pic>
        <p:nvPicPr>
          <p:cNvPr id="149" name="Google Shape;149;p6" descr="/home/claude/team13_rebuild/fig_referral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013575" y="600710"/>
            <a:ext cx="4095750" cy="2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Box 8"/>
          <p:cNvSpPr txBox="1"/>
          <p:nvPr/>
        </p:nvSpPr>
        <p:spPr>
          <a:xfrm>
            <a:off x="5990590" y="3474085"/>
            <a:ext cx="5876290" cy="31222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 dirty="0"/>
              <a:t>The Leak:</a:t>
            </a:r>
            <a:r>
              <a:rPr lang="en-US" altLang="en-US" dirty="0"/>
              <a:t> 66% of patients who meet ABA referral criteria are never transferred to a burn center.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b="1" dirty="0"/>
              <a:t>The Cost of "Staying Local":</a:t>
            </a:r>
            <a:r>
              <a:rPr lang="en-US" altLang="en-US" dirty="0"/>
              <a:t> Sub-optimal care at non-specialized centers leads to higher infection rates and longer stays.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b="1" dirty="0"/>
              <a:t>The Bottleneck: </a:t>
            </a:r>
            <a:r>
              <a:rPr lang="en-US" altLang="en-US" dirty="0"/>
              <a:t>Trauma centers are the "gatekeepers," but Only 11.9% of trauma centers can initiate burn care independently..)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1276507"/>
            <a:ext cx="1251284" cy="86258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12" y="1771558"/>
            <a:ext cx="5013623" cy="3315201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688455" y="4309110"/>
            <a:ext cx="51784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600">
                <a:solidFill>
                  <a:srgbClr val="FF0000"/>
                </a:solidFill>
              </a:rPr>
              <a:t>This represents an estimated 12,000+ patients annually</a:t>
            </a:r>
            <a:endParaRPr lang="en-US" altLang="en-US" sz="16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/>
          <p:cNvGrpSpPr>
            <a:grpSpLocks noGrp="1" noRot="1" noChangeAspect="1" noMove="1" noResize="1" noUngrp="1"/>
          </p:cNvGrpSpPr>
          <p:nvPr/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3" name="Rectangle 22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9" name="Rectangle 5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US" sz="3700"/>
              <a:t>Solution 1: Tele-Burn Hubs</a:t>
            </a:r>
            <a:endParaRPr lang="en-US" altLang="en-US" sz="3700"/>
          </a:p>
        </p:txBody>
      </p:sp>
      <p:sp>
        <p:nvSpPr>
          <p:cNvPr id="60" name="Rectangle 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5715" y="2508105"/>
            <a:ext cx="5040285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2000" b="1"/>
              <a:t>The Strategy:</a:t>
            </a:r>
            <a:r>
              <a:rPr lang="en-US" altLang="en-US" sz="2000"/>
              <a:t> Don't move the patient; move the expertise.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 b="1"/>
              <a:t>Hub Identification: </a:t>
            </a:r>
            <a:r>
              <a:rPr lang="en-US" altLang="en-US" sz="2000"/>
              <a:t>Use the CVI to identify Level I Trauma Centers in "Failure Zones" to serve as Tele-Burn Hubs.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 b="1"/>
              <a:t>Impact: </a:t>
            </a:r>
            <a:r>
              <a:rPr lang="en-US" altLang="en-US" sz="2000"/>
              <a:t>Virtual triage can reduce unnecessary transfers and provide expert guidance in the first 60 minutes.</a:t>
            </a:r>
            <a:endParaRPr lang="en-US" altLang="en-US" sz="2000"/>
          </a:p>
        </p:txBody>
      </p:sp>
      <p:pic>
        <p:nvPicPr>
          <p:cNvPr id="14" name="Content Placeholder 13">
            <a:hlinkClick r:id="rId1"/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67530" y="1536700"/>
            <a:ext cx="1729740" cy="726440"/>
          </a:xfrm>
          <a:prstGeom prst="rect">
            <a:avLst/>
          </a:prstGeom>
        </p:spPr>
      </p:pic>
      <p:pic>
        <p:nvPicPr>
          <p:cNvPr id="15" name="Google Shape;234;p9"/>
          <p:cNvPicPr preferRelativeResize="0"/>
          <p:nvPr/>
        </p:nvPicPr>
        <p:blipFill rotWithShape="1">
          <a:blip r:embed="rId3"/>
          <a:stretch>
            <a:fillRect/>
          </a:stretch>
        </p:blipFill>
        <p:spPr>
          <a:xfrm>
            <a:off x="6663055" y="922655"/>
            <a:ext cx="4347210" cy="1581150"/>
          </a:xfrm>
          <a:prstGeom prst="rect">
            <a:avLst/>
          </a:prstGeom>
          <a:noFill/>
        </p:spPr>
      </p:pic>
      <p:sp>
        <p:nvSpPr>
          <p:cNvPr id="4" name="Text Box 3"/>
          <p:cNvSpPr txBox="1"/>
          <p:nvPr/>
        </p:nvSpPr>
        <p:spPr>
          <a:xfrm>
            <a:off x="6097270" y="2689225"/>
            <a:ext cx="61976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900"/>
              <a:t>Figure 13: Tele-Burn Hubs reduce under-referral from 66% to an estimated 20% based on pilot data (simulated)</a:t>
            </a:r>
            <a:endParaRPr lang="en-US" altLang="en-US" sz="900"/>
          </a:p>
        </p:txBody>
      </p:sp>
      <p:graphicFrame>
        <p:nvGraphicFramePr>
          <p:cNvPr id="5" name="Table 4"/>
          <p:cNvGraphicFramePr/>
          <p:nvPr>
            <p:custDataLst>
              <p:tags r:id="rId4"/>
            </p:custDataLst>
          </p:nvPr>
        </p:nvGraphicFramePr>
        <p:xfrm>
          <a:off x="6572885" y="3074670"/>
          <a:ext cx="4738370" cy="2893695"/>
        </p:xfrm>
        <a:graphic>
          <a:graphicData uri="http://schemas.openxmlformats.org/drawingml/2006/table">
            <a:tbl>
              <a:tblPr/>
              <a:tblGrid>
                <a:gridCol w="2369185"/>
                <a:gridCol w="2369185"/>
              </a:tblGrid>
              <a:tr h="428625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sz="11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Before (Current)</a:t>
                      </a:r>
                      <a:endParaRPr sz="11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sz="11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After (Tele-Burn Hub)</a:t>
                      </a:r>
                      <a:endParaRPr sz="11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66675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sz="11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Patient arrives at non-burn trauma center</a:t>
                      </a:r>
                      <a:endParaRPr sz="11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sz="11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Same patient</a:t>
                      </a:r>
                      <a:endParaRPr sz="11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675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sz="11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No burn specialist on-site</a:t>
                      </a:r>
                      <a:endParaRPr sz="11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sz="11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Virtual consult via Tele-Burn Hub</a:t>
                      </a:r>
                      <a:endParaRPr sz="11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675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sz="11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66% never transferred → delayed or no burn care</a:t>
                      </a:r>
                      <a:endParaRPr sz="11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sz="11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Expert triage in first 60 minutes</a:t>
                      </a:r>
                      <a:endParaRPr sz="11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482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sz="11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High unnecessary transfers</a:t>
                      </a:r>
                      <a:endParaRPr sz="11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sz="11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Reduced unnecessary transfers</a:t>
                      </a:r>
                      <a:endParaRPr sz="11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Solution 2: Policy &amp; Impact</a:t>
            </a:r>
            <a:endParaRPr lang="en-US" altLang="en-US" sz="2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 lnSpcReduction="20000"/>
          </a:bodyPr>
          <a:lstStyle/>
          <a:p>
            <a:r>
              <a:rPr lang="en-US" altLang="en-US" sz="1400" b="1"/>
              <a:t>The Projection:</a:t>
            </a:r>
            <a:r>
              <a:rPr lang="en-US" altLang="en-US" sz="1400"/>
              <a:t> Closing the referral gap could save ~$113M annually in excess infection costs.</a:t>
            </a:r>
            <a:endParaRPr lang="en-US" altLang="en-US" sz="1400"/>
          </a:p>
          <a:p>
            <a:pPr lvl="1"/>
            <a:r>
              <a:rPr lang="en-US" altLang="en-US" sz="1200"/>
              <a:t>Breakdown: $78M from reduced infections + $35M from avoided transfers</a:t>
            </a:r>
            <a:endParaRPr lang="en-US" altLang="en-US" sz="1200"/>
          </a:p>
          <a:p>
            <a:endParaRPr lang="en-US" altLang="en-US" sz="1400"/>
          </a:p>
          <a:p>
            <a:r>
              <a:rPr lang="en-US" altLang="en-US" sz="1400" b="1"/>
              <a:t>Clinical Gain: </a:t>
            </a:r>
            <a:r>
              <a:rPr lang="en-US" altLang="en-US" sz="1400"/>
              <a:t>7% reduction in secondary infections by standardizing care via telemedicine.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 b="1"/>
              <a:t>Scale: </a:t>
            </a:r>
            <a:r>
              <a:rPr lang="en-US" altLang="en-US" sz="1400"/>
              <a:t>This isn't just a clinical fix; it's a multi-billion dollar efficiency opportunity for the US healthcare system.</a:t>
            </a:r>
            <a:endParaRPr lang="en-US" altLang="en-US" sz="140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572000" y="1341700"/>
            <a:ext cx="7251192" cy="45836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Future of Access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3979" y="1690688"/>
            <a:ext cx="3144253" cy="3140241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b="1" dirty="0"/>
              <a:t>Final Call: </a:t>
            </a:r>
            <a:r>
              <a:rPr lang="en-US" altLang="en-US" dirty="0"/>
              <a:t>Turn "Burn Deserts" into "Connected Care Networks."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b="1" dirty="0"/>
              <a:t>The Vision:</a:t>
            </a:r>
            <a:r>
              <a:rPr lang="en-US" altLang="en-US" dirty="0"/>
              <a:t> Federal and ABA partnership to anchor new centers in the 7 "Zero-Center" states.</a:t>
            </a:r>
            <a:endParaRPr lang="en-US" altLang="en-US" dirty="0"/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5" name="Text Box 4"/>
          <p:cNvSpPr txBox="1"/>
          <p:nvPr/>
        </p:nvSpPr>
        <p:spPr>
          <a:xfrm>
            <a:off x="3182954" y="5138268"/>
            <a:ext cx="9397365" cy="575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 dirty="0">
                <a:solidFill>
                  <a:srgbClr val="FF0000"/>
                </a:solidFill>
                <a:sym typeface="+mn-ea"/>
              </a:rPr>
              <a:t>Data has identified the gap. Technology must now bridge it.</a:t>
            </a:r>
            <a:endParaRPr lang="en-US" altLang="en-US" sz="2400" b="1" dirty="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6" name="Google Shape;253;p10"/>
          <p:cNvPicPr preferRelativeResize="0">
            <a:picLocks noGrp="1"/>
          </p:cNvPicPr>
          <p:nvPr>
            <p:ph sz="half" idx="2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4223084" y="1431759"/>
            <a:ext cx="6697579" cy="303496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3549316" y="5859379"/>
            <a:ext cx="6294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more interactive graph details , please scan the QR code.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10" y="4417060"/>
            <a:ext cx="1937385" cy="207391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73*197"/>
  <p:tag name="TABLE_ENDDRAG_RECT" val="517*272*373*19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4005</Words>
  <Application>WPS Presentation</Application>
  <PresentationFormat>Widescreen</PresentationFormat>
  <Paragraphs>124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Aptos Display</vt:lpstr>
      <vt:lpstr>Segoe UI Variable Display</vt:lpstr>
      <vt:lpstr>Aptos</vt:lpstr>
      <vt:lpstr>Segoe UI</vt:lpstr>
      <vt:lpstr>Microsoft YaHei</vt:lpstr>
      <vt:lpstr>Arial Unicode MS</vt:lpstr>
      <vt:lpstr>quote-cjk-patch</vt:lpstr>
      <vt:lpstr>Segoe Print</vt:lpstr>
      <vt:lpstr>Office Theme</vt:lpstr>
      <vt:lpstr>                        The Geography of Survival</vt:lpstr>
      <vt:lpstr>The Problem: Burn Deserts</vt:lpstr>
      <vt:lpstr>Methodology: The CVI</vt:lpstr>
      <vt:lpstr>Mapping the Gap</vt:lpstr>
      <vt:lpstr>The 100-Mile Burden</vt:lpstr>
      <vt:lpstr>Inequity by Design</vt:lpstr>
      <vt:lpstr>The Referral Bottleneck</vt:lpstr>
      <vt:lpstr>Solution 1: Tele-Burn Hubs</vt:lpstr>
      <vt:lpstr>Solution 2: Policy &amp; Impact</vt:lpstr>
      <vt:lpstr>The Future of Access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Li, Feifei</dc:creator>
  <cp:lastModifiedBy>faith</cp:lastModifiedBy>
  <cp:revision>11</cp:revision>
  <dcterms:created xsi:type="dcterms:W3CDTF">2026-03-09T00:12:00Z</dcterms:created>
  <dcterms:modified xsi:type="dcterms:W3CDTF">2026-04-12T20:47:53Z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8887C23F9405473F94955D4386799EBD_13</vt:lpwstr>
  </property>
  <property fmtid="{D5CDD505-2E9C-101B-9397-08002B2CF9AE}" pid="3" name="KSOProductBuildVer">
    <vt:lpwstr>1033-12.1.0.25830</vt:lpwstr>
  </property>
</Properties>
</file>